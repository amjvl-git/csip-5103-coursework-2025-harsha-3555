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DM Sans" pitchFamily="2" charset="0"/>
      <p:regular r:id="rId19"/>
      <p:bold r:id="rId20"/>
      <p:italic r:id="rId21"/>
    </p:embeddedFont>
    <p:embeddedFont>
      <p:font typeface="PT Serif" panose="020A0603040505020204" pitchFamily="18" charset="0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3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6858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793790" y="3345775"/>
            <a:ext cx="1165205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Fashion-MNIST Classification: ANN vs CNN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793790" y="4430197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comparative analysis of neural network architectures for image classification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3073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C49F8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Challenge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93790" y="1593533"/>
            <a:ext cx="668357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&amp; Objective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793790" y="267795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Challenge:</a:t>
            </a: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accurately categorize grayscale images of clothing of the Fashion-MNIST dataset.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38661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Dataset:</a:t>
            </a: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200" dirty="0">
                <a:solidFill>
                  <a:srgbClr val="383838"/>
                </a:solidFill>
                <a:latin typeface="DM Sans" pitchFamily="34" charset="0"/>
              </a:rPr>
              <a:t>70000 28x28 images in 10 categories (T-shirts, Trousers, Sneakers, etc.).</a:t>
            </a:r>
          </a:p>
        </p:txBody>
      </p:sp>
      <p:sp>
        <p:nvSpPr>
          <p:cNvPr id="6" name="Text 4"/>
          <p:cNvSpPr/>
          <p:nvPr/>
        </p:nvSpPr>
        <p:spPr>
          <a:xfrm>
            <a:off x="793790" y="4180284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Objective: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93790" y="49670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 two different neural network architectures: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40924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Artificial Neural Network (ANN)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8514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Convolutional Neural Network (CNN)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2936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 and test both models.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7358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 their performance to see which is better, and </a:t>
            </a:r>
            <a:r>
              <a:rPr lang="en-US" sz="17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8810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Preprocessing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15669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511742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93790" y="268605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Loading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3194209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Used torchvision to load the 60,000 training images and 10,000 test images.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15669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511742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428548" y="268605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Splitting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428548" y="3194209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60k training images were split: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428548" y="3693200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48,000 (80%)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Training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428548" y="4135398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12,000 (20%)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Validation (to check our work)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489513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3790" y="5250180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93790" y="542448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Normalization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93790" y="5932646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ToTensor(): Converted images to PyTorch Tensors.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6374844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Normalize((0.5,), (0.5,)): Scaled pixel values from [0, 1] to [-1, 1] for faster training.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428548" y="489513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428548" y="5250180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428548" y="542448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Loaders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7428548" y="5932646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Used DataLoader with a batch size of 64.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0852" y="665117"/>
            <a:ext cx="2429828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49F8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1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560852" y="1042783"/>
            <a:ext cx="4859655" cy="607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"Simple" ANN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60852" y="2112917"/>
            <a:ext cx="2915722" cy="364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Architecture: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560852" y="2662390"/>
            <a:ext cx="7130772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standard Multi-Layer Perceptron (MLP).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60852" y="3143641"/>
            <a:ext cx="2915722" cy="364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it works: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560852" y="3693114"/>
            <a:ext cx="7130772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28x28 image is flattened into 1D a 784 pixel vector.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60852" y="4054112"/>
            <a:ext cx="7130772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transmitted through 3 Fully-Connected layers.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60852" y="4535362"/>
            <a:ext cx="2915722" cy="364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Topology: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560852" y="5084836"/>
            <a:ext cx="7130772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Linear(784, 128) -&gt; ReLU -&gt; Linear(128, 64) -&gt; ReLU -&gt; Linear(64, 10)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8150729" y="2955760"/>
            <a:ext cx="5752148" cy="1571506"/>
          </a:xfrm>
          <a:prstGeom prst="roundRect">
            <a:avLst>
              <a:gd name="adj" fmla="val 1767"/>
            </a:avLst>
          </a:prstGeom>
          <a:solidFill>
            <a:srgbClr val="FFCDB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752" y="3210673"/>
            <a:ext cx="303728" cy="242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824504" y="3186980"/>
            <a:ext cx="2429828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weakness: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8824504" y="3675731"/>
            <a:ext cx="4893350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 flattening the image, it </a:t>
            </a:r>
            <a:r>
              <a:rPr lang="en-US" sz="14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loses all spatial information</a:t>
            </a:r>
            <a:r>
              <a:rPr lang="en-US" sz="14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It doesn't know which pixels are next to each other.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7461" y="647343"/>
            <a:ext cx="2390537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49F8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2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637461" y="1018937"/>
            <a:ext cx="4781074" cy="597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"Smart" CNN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637461" y="2071807"/>
            <a:ext cx="2868692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Architecture: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637461" y="2612350"/>
            <a:ext cx="4128016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Convolutional Neural Network, designed for images.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37461" y="3377327"/>
            <a:ext cx="2868692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it works: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637461" y="3917871"/>
            <a:ext cx="4128016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Extractor: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Uses 2D "filters" to scan the image for patterns (edges, corners, etc.).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7461" y="4564499"/>
            <a:ext cx="4128016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 startAt="2"/>
            </a:pPr>
            <a:r>
              <a:rPr lang="en-US" sz="14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Classifier: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standard linear layer at the end to make the final decision.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63820" y="3195280"/>
            <a:ext cx="2868692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Topology: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5463820" y="3735823"/>
            <a:ext cx="412801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Conv2d (32 filters) -&gt; MaxPool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63820" y="4090987"/>
            <a:ext cx="412801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Conv2d (64 filters) -&gt; MaxPool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63820" y="4446150"/>
            <a:ext cx="412801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Flatten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63820" y="4801314"/>
            <a:ext cx="4128016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Linear(3136, 128) -&gt; Dropout(0.25) -&gt; Linear(128, 10)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290180" y="2080260"/>
            <a:ext cx="3296603" cy="1837611"/>
          </a:xfrm>
          <a:prstGeom prst="roundRect">
            <a:avLst>
              <a:gd name="adj" fmla="val 1487"/>
            </a:avLst>
          </a:prstGeom>
          <a:solidFill>
            <a:srgbClr val="FFCDB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2226" y="2334815"/>
            <a:ext cx="298728" cy="23895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953001" y="2307788"/>
            <a:ext cx="2390537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Strength:</a:t>
            </a:r>
            <a:endParaRPr lang="en-US" sz="1850" dirty="0"/>
          </a:p>
        </p:txBody>
      </p:sp>
      <p:sp>
        <p:nvSpPr>
          <p:cNvPr id="18" name="Text 14"/>
          <p:cNvSpPr/>
          <p:nvPr/>
        </p:nvSpPr>
        <p:spPr>
          <a:xfrm>
            <a:off x="10953001" y="2788682"/>
            <a:ext cx="2451735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</a:t>
            </a:r>
            <a:r>
              <a:rPr lang="en-US" sz="14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preserves spatial information</a:t>
            </a: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learns features hierarchically.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9567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Training Setup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49745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Common setup for both models: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3206115"/>
            <a:ext cx="4196358" cy="1748552"/>
          </a:xfrm>
          <a:prstGeom prst="roundRect">
            <a:avLst>
              <a:gd name="adj" fmla="val 836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63310" y="3206115"/>
            <a:ext cx="121920" cy="1748552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142524" y="346340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Loss Function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42524" y="3971568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nn.CrossEntropyLoss (Standard for multi-class classification).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6115"/>
            <a:ext cx="4196358" cy="1748552"/>
          </a:xfrm>
          <a:prstGeom prst="roundRect">
            <a:avLst>
              <a:gd name="adj" fmla="val 836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186482" y="3206115"/>
            <a:ext cx="121920" cy="1748552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565696" y="346340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Optimizer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565696" y="3971568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optim.Adam (A fast, efficient optimizer).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6115"/>
            <a:ext cx="4196358" cy="1748552"/>
          </a:xfrm>
          <a:prstGeom prst="roundRect">
            <a:avLst>
              <a:gd name="adj" fmla="val 836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609653" y="3206115"/>
            <a:ext cx="121920" cy="1748552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988868" y="346340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Learning Rate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9988868" y="3971568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0.001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181481"/>
            <a:ext cx="4196358" cy="1748552"/>
          </a:xfrm>
          <a:prstGeom prst="roundRect">
            <a:avLst>
              <a:gd name="adj" fmla="val 836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63310" y="5181481"/>
            <a:ext cx="121920" cy="1748552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142524" y="543877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Epochs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142524" y="5946934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5216962" y="5181481"/>
            <a:ext cx="4196358" cy="1748552"/>
          </a:xfrm>
          <a:prstGeom prst="roundRect">
            <a:avLst>
              <a:gd name="adj" fmla="val 836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186482" y="5181481"/>
            <a:ext cx="121920" cy="1748552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565696" y="543877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Environment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5565696" y="5946934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Trained using PyTorch on a cuda (GPU) device for acceleration.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21869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Results: The Numbers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819757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clear winner emerged after evaluating on the 10,000-image test set.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3528417"/>
            <a:ext cx="13042821" cy="1966198"/>
          </a:xfrm>
          <a:prstGeom prst="roundRect">
            <a:avLst>
              <a:gd name="adj" fmla="val 173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1410" y="3536037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28224" y="367974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45824" y="367974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 Accuracy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4186357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28224" y="4330065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ANN (Simple)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45824" y="4330065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87.61%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483667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28224" y="4980384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49F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CNN (Smart)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45824" y="4980384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49F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91.99%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3790" y="5863147"/>
            <a:ext cx="13042821" cy="35957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93790" y="6154222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CNN is </a:t>
            </a:r>
            <a:r>
              <a:rPr lang="en-US" sz="2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4.38%</a:t>
            </a: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more accurate. Now, let's look at </a:t>
            </a:r>
            <a:r>
              <a:rPr lang="en-US" sz="22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</a:t>
            </a: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73650" y="761345"/>
            <a:ext cx="7689533" cy="136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Results: Loss &amp; Accuracy Curves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6213634" y="2411849"/>
            <a:ext cx="768953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673650" y="2536508"/>
            <a:ext cx="7689533" cy="2356009"/>
          </a:xfrm>
          <a:prstGeom prst="roundRect">
            <a:avLst>
              <a:gd name="adj" fmla="val 132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881414" y="2744272"/>
            <a:ext cx="2727127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ANN (Top Row):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881414" y="3209807"/>
            <a:ext cx="7274004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</a:t>
            </a:r>
            <a:r>
              <a:rPr lang="en-US" sz="16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Training Loss</a:t>
            </a: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(blue) goes down.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81414" y="3614857"/>
            <a:ext cx="7274004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</a:t>
            </a:r>
            <a:r>
              <a:rPr lang="en-US" sz="16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Validation Loss</a:t>
            </a: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(orange) flattens and </a:t>
            </a:r>
            <a:r>
              <a:rPr lang="en-US" sz="16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starts to rise</a:t>
            </a: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81414" y="4019908"/>
            <a:ext cx="7274004" cy="66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classic overfitting.</a:t>
            </a: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model just memorized the training data and didn't learn to generalize.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673650" y="5100281"/>
            <a:ext cx="7689533" cy="1950958"/>
          </a:xfrm>
          <a:prstGeom prst="roundRect">
            <a:avLst>
              <a:gd name="adj" fmla="val 159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881414" y="5308045"/>
            <a:ext cx="2727127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CNN (Bottom Row):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881414" y="5773579"/>
            <a:ext cx="7274004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curves for Training and Validation track each other very closely.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81414" y="6178630"/>
            <a:ext cx="7274004" cy="66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a healthy model.</a:t>
            </a: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It learned general patterns, which is why it performed better on unseen test data.</a:t>
            </a:r>
            <a:endParaRPr lang="en-US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E99D161-C675-2A44-C078-527DF577AD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092"/>
          <a:stretch>
            <a:fillRect/>
          </a:stretch>
        </p:blipFill>
        <p:spPr>
          <a:xfrm>
            <a:off x="267217" y="1186543"/>
            <a:ext cx="6246342" cy="6339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21373" y="783312"/>
            <a:ext cx="7674054" cy="13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Analysis: The Confusion Matrix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221373" y="2476262"/>
            <a:ext cx="7674054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(You would show the results.png plot here, focusing on the two matrices)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221373" y="3048476"/>
            <a:ext cx="7674054" cy="420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confusion matrix shows us </a:t>
            </a:r>
            <a:r>
              <a:rPr lang="en-US" sz="20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</a:t>
            </a:r>
            <a:r>
              <a:rPr lang="en-US" sz="2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model got confused.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221373" y="3914656"/>
            <a:ext cx="3307794" cy="413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C49F8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ANN: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221373" y="4537948"/>
            <a:ext cx="3580805" cy="671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Look at the row for 'Shirt' (index 6).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221373" y="5283398"/>
            <a:ext cx="3580805" cy="100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misclassified </a:t>
            </a: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115 Shirts as Coats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(index 4) and </a:t>
            </a: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127 Shirts as T-shirts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(index 0).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221373" y="6364843"/>
            <a:ext cx="3580805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It's </a:t>
            </a:r>
            <a:r>
              <a:rPr lang="en-US" sz="16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very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confused.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322243" y="3914656"/>
            <a:ext cx="3307794" cy="413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C49F8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CNN: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0322243" y="4537948"/>
            <a:ext cx="3580805" cy="671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Look at the same 'Shirt' row (index 6).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0322243" y="5283398"/>
            <a:ext cx="3580805" cy="100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Misclassifications are much lower (e.g., only 60 Shirts as Coats).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0322243" y="6364843"/>
            <a:ext cx="3580805" cy="100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diagonal is much darker, meaning more correct predictions.</a:t>
            </a:r>
            <a:endParaRPr lang="en-US" sz="16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EE9DF3A-D61C-D76C-CBC9-A826A2F8C3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573" t="-1720" b="-1"/>
          <a:stretch>
            <a:fillRect/>
          </a:stretch>
        </p:blipFill>
        <p:spPr>
          <a:xfrm>
            <a:off x="848917" y="-77305"/>
            <a:ext cx="4203044" cy="83069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94723"/>
            <a:ext cx="943987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Key Insight: </a:t>
            </a:r>
            <a:r>
              <a:rPr lang="en-US" sz="4650" dirty="0">
                <a:solidFill>
                  <a:srgbClr val="C49F8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the CNN Won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92611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92668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ANN: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020604" y="4434840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Flattens the image into a long list.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20604" y="4877038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sees: [pixel, pixel, pixel, ...]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0604" y="5319236"/>
            <a:ext cx="606778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can't tell the difference between a 'Shirt', 'Coat', and 'Pullover' because they all have a similar "global average" of pixels.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792611"/>
            <a:ext cx="6521410" cy="9072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42014" y="392668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CNN: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7542014" y="4434840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Scans the 2D image for features.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542014" y="4877038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sees: "This has a collar," "This has buttons," "This has long sleeves."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7542014" y="5682139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builds a </a:t>
            </a:r>
            <a:r>
              <a:rPr lang="en-US" sz="17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spatial understanding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the object, which is why it can tell the similar items apart.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3429" y="599956"/>
            <a:ext cx="6788706" cy="71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Conclusion &amp; Future Work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763429" y="1642824"/>
            <a:ext cx="7617143" cy="1308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CNN is unequivocally superior for image classification, primarily due to its spatial feature extraction, a capability lacking in the ANN.</a:t>
            </a:r>
            <a:endParaRPr lang="en-US" sz="2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225" y="3203615"/>
            <a:ext cx="327184" cy="3271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72327" y="3196947"/>
            <a:ext cx="2863096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Augmentation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1472327" y="3685699"/>
            <a:ext cx="6908244" cy="69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 RandomHorizontalFlip and RandomRotation to expand training data and improve model robustness.</a:t>
            </a:r>
            <a:endParaRPr lang="en-US" sz="1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225" y="4826556"/>
            <a:ext cx="327184" cy="3271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72327" y="4819888"/>
            <a:ext cx="2863096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LR Scheduler</a:t>
            </a:r>
            <a:endParaRPr lang="en-US" sz="2250" dirty="0"/>
          </a:p>
        </p:txBody>
      </p:sp>
      <p:sp>
        <p:nvSpPr>
          <p:cNvPr id="10" name="Text 5"/>
          <p:cNvSpPr/>
          <p:nvPr/>
        </p:nvSpPr>
        <p:spPr>
          <a:xfrm>
            <a:off x="1472327" y="5308640"/>
            <a:ext cx="6908244" cy="69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Apply a Learning Rate Scheduler to automatically change the learning rate to give results that are more fine-tuned.</a:t>
            </a:r>
            <a:endParaRPr lang="en-US" sz="17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225" y="6449497"/>
            <a:ext cx="327184" cy="3271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72327" y="6442829"/>
            <a:ext cx="2863096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Deeper Model</a:t>
            </a:r>
            <a:endParaRPr lang="en-US" sz="2250" dirty="0"/>
          </a:p>
        </p:txBody>
      </p:sp>
      <p:sp>
        <p:nvSpPr>
          <p:cNvPr id="13" name="Text 7"/>
          <p:cNvSpPr/>
          <p:nvPr/>
        </p:nvSpPr>
        <p:spPr>
          <a:xfrm>
            <a:off x="1472327" y="6931581"/>
            <a:ext cx="6908244" cy="69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more Batch Normalization or convolutional layers, or use more convolutional layers to improve model capacity.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4630034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" y="0"/>
            <a:ext cx="14630034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6320" y="4780"/>
            <a:ext cx="11251959" cy="82296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64082" y="4782"/>
            <a:ext cx="11727318" cy="82296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ext 0"/>
          <p:cNvSpPr/>
          <p:nvPr/>
        </p:nvSpPr>
        <p:spPr>
          <a:xfrm>
            <a:off x="4203277" y="1850882"/>
            <a:ext cx="6224210" cy="28655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2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  <a:endParaRPr lang="en-US" sz="62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02562" y="4801904"/>
            <a:ext cx="6225640" cy="8184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b="1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Questions?</a:t>
            </a:r>
            <a:endParaRPr lang="en-US" sz="24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66" y="-4986"/>
            <a:ext cx="3017937" cy="2609199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1622872" y="5620399"/>
            <a:ext cx="3017938" cy="2609199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880</Words>
  <Application>Microsoft Office PowerPoint</Application>
  <PresentationFormat>Custom</PresentationFormat>
  <Paragraphs>124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PT Serif</vt:lpstr>
      <vt:lpstr>Arial</vt:lpstr>
      <vt:lpstr>DM Sans</vt:lpstr>
      <vt:lpstr>PT Serif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Harsh Sain</cp:lastModifiedBy>
  <cp:revision>8</cp:revision>
  <dcterms:created xsi:type="dcterms:W3CDTF">2025-11-03T14:41:12Z</dcterms:created>
  <dcterms:modified xsi:type="dcterms:W3CDTF">2025-11-03T15:18:16Z</dcterms:modified>
</cp:coreProperties>
</file>